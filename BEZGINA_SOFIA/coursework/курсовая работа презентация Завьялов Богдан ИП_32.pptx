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rimson Pro Semi Bold" panose="020B0604020202020204" charset="0"/>
      <p:regular r:id="rId13"/>
    </p:embeddedFont>
    <p:embeddedFont>
      <p:font typeface="Heebo" pitchFamily="2" charset="-79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2792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855232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Разработка интерфейса арендодателя для системы управления недвижимостью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503051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Платформа для автоматизации арендного бизнеса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64856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Курсовая работа по программированию · Фокус на удобство, безопасность и кросс-браузерность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63410"/>
            <a:ext cx="1670209" cy="426244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9878" y="1631394"/>
            <a:ext cx="13980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АКТУАЛЬНОСТЬ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080379"/>
            <a:ext cx="99151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Зачем нужен новый сервис аренды?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129320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3310" y="3129320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2524" y="338661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UI/UX определяет успех платформы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2524" y="4231362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Качество интерфейса напрямую влияет на конверсию и удержание пользователей. Арендодатель — ключевой генератор дохода всей системы.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6962" y="3129320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86482" y="3129320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65696" y="3386614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Ожидания пользователей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65696" y="423136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Мгновенный поиск, гибкие фильтры и удобное управление объектами — на любых устройствах и в любом браузере.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40133" y="3129320"/>
            <a:ext cx="4196358" cy="3536752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09653" y="3129320"/>
            <a:ext cx="121920" cy="3536752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88868" y="33866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Пробел на рынке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988868" y="3877032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Существующие решения не предлагают комплексной автоматизации для долгосрочной аренды с чётким разделением ролей.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C9E6E95-CDAF-F922-B629-572090B70D93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4260" y="649724"/>
            <a:ext cx="1593294" cy="391001"/>
          </a:xfrm>
          <a:prstGeom prst="roundRect">
            <a:avLst>
              <a:gd name="adj" fmla="val 652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71776" y="713422"/>
            <a:ext cx="1338262" cy="2636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ЦЕЛЬ И ЗАДАЧИ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44260" y="1120378"/>
            <a:ext cx="6759535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Цель и задачи разработки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1264" y="2083832"/>
            <a:ext cx="6617613" cy="5496044"/>
          </a:xfrm>
          <a:prstGeom prst="roundRect">
            <a:avLst>
              <a:gd name="adj" fmla="val 580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3910" y="228314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Цель проекта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03910" y="2814757"/>
            <a:ext cx="6192322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Создание клиентской части для полного управления недвижимостью: добавление, редактирование и просмотр объектов аренды без перезагрузки страниц.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82138" y="228314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Задачи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2138" y="2839641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Light" pitchFamily="34" charset="-122"/>
                <a:cs typeface="Times New Roman" panose="02020603050405020304" pitchFamily="18" charset="0"/>
              </a:rPr>
              <a:t>01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582138" y="3178135"/>
            <a:ext cx="6311622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2138" y="3330178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Анализ конкурентов и лучших UX-практик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82138" y="4018478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Light" pitchFamily="34" charset="-122"/>
                <a:cs typeface="Times New Roman" panose="02020603050405020304" pitchFamily="18" charset="0"/>
              </a:rPr>
              <a:t>02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82138" y="4356973"/>
            <a:ext cx="6311622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2138" y="4509016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Проектирование BPMN-диаграмм и структуры данных JSON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2138" y="5197316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Light" pitchFamily="34" charset="-122"/>
                <a:cs typeface="Times New Roman" panose="02020603050405020304" pitchFamily="18" charset="0"/>
              </a:rPr>
              <a:t>03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2138" y="5535811"/>
            <a:ext cx="6311622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2138" y="5687854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Разработка адаптивного интерфейса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582138" y="6376154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Light" pitchFamily="34" charset="-122"/>
                <a:cs typeface="Times New Roman" panose="02020603050405020304" pitchFamily="18" charset="0"/>
              </a:rPr>
              <a:t>04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82138" y="6714649"/>
            <a:ext cx="6311622" cy="2286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2138" y="6866692"/>
            <a:ext cx="631162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Функциональное и интеграционное тестирование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E945B22-A77D-F2A8-3C9D-F5DFBC4878DB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23737" y="527685"/>
            <a:ext cx="1280874" cy="300276"/>
          </a:xfrm>
          <a:prstGeom prst="roundRect">
            <a:avLst>
              <a:gd name="adj" fmla="val 6940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1427917" y="579715"/>
            <a:ext cx="1072515" cy="196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АНАЛИЗ РЫНКА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23737" y="881063"/>
            <a:ext cx="5827157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Конкуренты vs Наш продукт</a:t>
            </a:r>
            <a:endParaRPr lang="en-US" sz="3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737" y="1772722"/>
            <a:ext cx="5779532" cy="57795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513" y="3383637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Ключевые отличия</a:t>
            </a:r>
            <a:endParaRPr lang="en-US" sz="17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3812917"/>
            <a:ext cx="260390" cy="26039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98750" y="3804404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Ролевая модель: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строгое разделение на бэкенде — Арендатор, Арендодатель, Модератор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4608255"/>
            <a:ext cx="260390" cy="26039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98750" y="4599742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Полная автоматизация: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от подачи заявки до оплаты и модерации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99640" y="5403592"/>
            <a:ext cx="260390" cy="26039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098750" y="5395079"/>
            <a:ext cx="5215295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Безопасность:</a:t>
            </a: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встроенная защита от мошенничества на уровне архитектуры</a:t>
            </a:r>
            <a:endParaRPr lang="en-US" sz="135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FC848D6-5856-9156-2004-87DBBC042107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80329"/>
            <a:ext cx="1490782" cy="426244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929878" y="1748314"/>
            <a:ext cx="12186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ТЕХНОЛОГИИ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97298"/>
            <a:ext cx="70587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Инструменты разработки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246239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1020604" y="347305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660100"/>
            <a:ext cx="306110" cy="306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0604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Фронтенд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4870728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HTML5 — структура страницы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CSS3 — адаптивная вёрстка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Vanilla JavaScript — логика и Fetch API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16962" y="3246239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443776" y="347305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660100"/>
            <a:ext cx="306110" cy="306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3776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Бэкенд и БД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5443776" y="487072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C# / ASP.NET Core — REST API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PostgreSQL — реляционная СУБД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3246239"/>
            <a:ext cx="4196358" cy="3302913"/>
          </a:xfrm>
          <a:prstGeom prst="roundRect">
            <a:avLst>
              <a:gd name="adj" fmla="val 1030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9866948" y="347305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660100"/>
            <a:ext cx="306110" cy="306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66948" y="43803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Среда разработки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66948" y="4870728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Visual Studio Code — редактор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 / GitHub — контроль версий</a:t>
            </a:r>
            <a:endParaRPr lang="en-US" sz="175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64A5C2F-44B7-312B-73D4-840613B02038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6509" y="387906"/>
            <a:ext cx="904994" cy="225266"/>
          </a:xfrm>
          <a:prstGeom prst="roundRect">
            <a:avLst>
              <a:gd name="adj" fmla="val 7363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629376" y="429339"/>
            <a:ext cx="739259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АРХИТЕКТУРА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46509" y="646748"/>
            <a:ext cx="3991094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Логика работы системы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083" y="1204913"/>
            <a:ext cx="6442234" cy="43582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13390" y="3179005"/>
            <a:ext cx="1173068" cy="26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API‑поток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66585" y="4413469"/>
            <a:ext cx="1745147" cy="26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REST API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466585" y="4757998"/>
            <a:ext cx="1745147" cy="17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JSON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376790" y="4413469"/>
            <a:ext cx="1745148" cy="26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ASP.NET Core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76790" y="4757998"/>
            <a:ext cx="1745148" cy="17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Логика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76790" y="1828904"/>
            <a:ext cx="1745148" cy="26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PostgreSQL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376790" y="2173433"/>
            <a:ext cx="1745148" cy="17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Данные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477761" y="1828904"/>
            <a:ext cx="1745148" cy="268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Браузер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477761" y="2173433"/>
            <a:ext cx="1745148" cy="172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Fetch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546509" y="5657850"/>
            <a:ext cx="9537383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Клиент и сервер обмениваются данными через REST API в формате JSON.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546509" y="5962055"/>
            <a:ext cx="2551271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Бизнес-процесс арендодателя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546509" y="7072908"/>
            <a:ext cx="9537383" cy="15240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093369" y="6658332"/>
            <a:ext cx="15240" cy="414576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945493" y="6917412"/>
            <a:ext cx="310991" cy="3109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997345" y="6943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237071" y="6304240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Регистрация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5700474" y="7072908"/>
            <a:ext cx="15240" cy="414576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552599" y="6917412"/>
            <a:ext cx="310991" cy="3109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604450" y="6943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44177" y="7625715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Добавление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307580" y="6658332"/>
            <a:ext cx="15240" cy="414576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159704" y="6917412"/>
            <a:ext cx="310991" cy="3109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211556" y="6943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51283" y="6304240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Цены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8914686" y="7072908"/>
            <a:ext cx="15240" cy="414576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766810" y="6917412"/>
            <a:ext cx="310991" cy="3109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818662" y="6943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058388" y="7625715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Бронирования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10521791" y="6658332"/>
            <a:ext cx="15240" cy="414576"/>
          </a:xfrm>
          <a:prstGeom prst="roundRect">
            <a:avLst>
              <a:gd name="adj" fmla="val 136046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373916" y="6917412"/>
            <a:ext cx="310991" cy="31099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0425767" y="6943368"/>
            <a:ext cx="207288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665494" y="6304240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Отзывы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C1FB082D-2555-E1ED-E71E-36F8FAD94FCF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4050"/>
            <a:ext cx="1561386" cy="426244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29878" y="1042035"/>
            <a:ext cx="128920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ФУНКЦИОНАЛ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1491020"/>
            <a:ext cx="85941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Личный кабинет арендодателя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95111"/>
            <a:ext cx="4205168" cy="4205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59981" y="2944416"/>
            <a:ext cx="34742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Каталог «Мои квартиры»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559981" y="352556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Единый список объектов с отображением статуса (активен / на модерации) и текущей загрузки.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559981" y="4478179"/>
            <a:ext cx="30424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Многошаговая форма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59981" y="5059323"/>
            <a:ext cx="828413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Загрузка фотографий объекта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Настройка удобств и правил проживания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Установка тарифов и условий аренды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59981" y="6510695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Все данные валидируются на клиенте перед отправкой на сервер.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6E45D39-FA59-F3B4-A314-CBAB025F259B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2351" y="530304"/>
            <a:ext cx="1495663" cy="340519"/>
          </a:xfrm>
          <a:prstGeom prst="roundRect">
            <a:avLst>
              <a:gd name="adj" fmla="val 6745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7127" y="587693"/>
            <a:ext cx="1266111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БРОНИРОВАНИЯ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12351" y="935355"/>
            <a:ext cx="513909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Управление заявками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2351" y="3011329"/>
            <a:ext cx="277463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Таблица бронирований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2351" y="3471743"/>
            <a:ext cx="84201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Единый реестр всех заявок с цветовой индикацией статусов: </a:t>
            </a:r>
            <a:r>
              <a:rPr lang="en-US" sz="1500" b="1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ожидание</a:t>
            </a: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подтверждено</a:t>
            </a: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отменено</a:t>
            </a: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, </a:t>
            </a:r>
            <a:r>
              <a:rPr lang="en-US" sz="1500" b="1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завершено</a:t>
            </a: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2351" y="4197548"/>
            <a:ext cx="2776180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Действия арендодателя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2351" y="4657963"/>
            <a:ext cx="8420100" cy="579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Каждое действие отправляет </a:t>
            </a:r>
            <a:r>
              <a:rPr lang="en-US" sz="1500" dirty="0">
                <a:solidFill>
                  <a:srgbClr val="4C4C4D"/>
                </a:solidFill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PUT</a:t>
            </a: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-запрос на сервер. Уведомления обновляются мгновенно.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034" y="1957149"/>
            <a:ext cx="4318397" cy="431839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2351" y="6638687"/>
            <a:ext cx="13205579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12351" y="6638687"/>
            <a:ext cx="4401860" cy="1060609"/>
          </a:xfrm>
          <a:prstGeom prst="roundRect">
            <a:avLst>
              <a:gd name="adj" fmla="val 270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03684" y="683002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Confirm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03684" y="7225784"/>
            <a:ext cx="401919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Подтвердить заявку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114211" y="6638687"/>
            <a:ext cx="4401860" cy="1060609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14211" y="6638687"/>
            <a:ext cx="22860" cy="1060609"/>
          </a:xfrm>
          <a:prstGeom prst="roundRect">
            <a:avLst>
              <a:gd name="adj" fmla="val 1255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305544" y="683002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Cancel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05544" y="7225784"/>
            <a:ext cx="401919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Отменить бронь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516070" y="6638687"/>
            <a:ext cx="4401860" cy="1060609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9516070" y="6638687"/>
            <a:ext cx="22860" cy="1060609"/>
          </a:xfrm>
          <a:prstGeom prst="roundRect">
            <a:avLst>
              <a:gd name="adj" fmla="val 1255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707404" y="683002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Complete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707404" y="7225784"/>
            <a:ext cx="401919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Завершить аренду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3ADB142-0EBA-E206-23ED-B3E6AD8B04EE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1460" y="558879"/>
            <a:ext cx="1713190" cy="308253"/>
          </a:xfrm>
          <a:prstGeom prst="roundRect">
            <a:avLst>
              <a:gd name="adj" fmla="val 6899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07783" y="611981"/>
            <a:ext cx="1500545" cy="202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КОНТРОЛЬ КАЧЕСТВА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01460" y="922496"/>
            <a:ext cx="5925145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Тестирование системы (QA)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01460" y="3171349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Методология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01460" y="3586520"/>
            <a:ext cx="779645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ГОСТ 19.301-79, метод «чёрного ящика» — проверка со стороны конечного пользователя без знания внутренней реализации.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01460" y="4229695"/>
            <a:ext cx="22175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Этапы тестирования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7727" y="1839635"/>
            <a:ext cx="3998595" cy="39985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201460" y="6415445"/>
            <a:ext cx="3983474" cy="1255157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201460" y="6392585"/>
            <a:ext cx="3983474" cy="91440"/>
          </a:xfrm>
          <a:prstGeom prst="roundRect">
            <a:avLst>
              <a:gd name="adj" fmla="val 2907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927330" y="6149697"/>
            <a:ext cx="382345" cy="531614"/>
          </a:xfrm>
          <a:prstGeom prst="roundRect">
            <a:avLst>
              <a:gd name="adj" fmla="val 17200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86755" y="6282571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01485" y="68583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Модульное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401485" y="7218164"/>
            <a:ext cx="35834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UI-элементы, календари, формы ввода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323284" y="6415445"/>
            <a:ext cx="3983593" cy="1255157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323284" y="6392585"/>
            <a:ext cx="3983593" cy="91440"/>
          </a:xfrm>
          <a:prstGeom prst="roundRect">
            <a:avLst>
              <a:gd name="adj" fmla="val 2907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059548" y="6149697"/>
            <a:ext cx="372071" cy="531614"/>
          </a:xfrm>
          <a:prstGeom prst="roundRect">
            <a:avLst>
              <a:gd name="adj" fmla="val 17200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208699" y="6282571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523309" y="68583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Интеграционное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523309" y="7218164"/>
            <a:ext cx="3583543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Передача JWT-токенов, связка с API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445228" y="6415445"/>
            <a:ext cx="3983474" cy="1255157"/>
          </a:xfrm>
          <a:prstGeom prst="roundRect">
            <a:avLst>
              <a:gd name="adj" fmla="val 874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445228" y="6392585"/>
            <a:ext cx="3983474" cy="91440"/>
          </a:xfrm>
          <a:prstGeom prst="roundRect">
            <a:avLst>
              <a:gd name="adj" fmla="val 29070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1171099" y="6149697"/>
            <a:ext cx="372070" cy="531614"/>
          </a:xfrm>
          <a:prstGeom prst="roundRect">
            <a:avLst>
              <a:gd name="adj" fmla="val 17200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330523" y="6282571"/>
            <a:ext cx="21264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645253" y="685835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Безопасность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645253" y="7218164"/>
            <a:ext cx="3583424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Защита от XSS-атак, валидация форм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CE8E970A-0198-4B6D-BF0A-8430B11B135C}"/>
              </a:ext>
            </a:extLst>
          </p:cNvPr>
          <p:cNvSpPr/>
          <p:nvPr/>
        </p:nvSpPr>
        <p:spPr>
          <a:xfrm>
            <a:off x="12668036" y="7753589"/>
            <a:ext cx="1880171" cy="380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537" y="156805"/>
            <a:ext cx="5277326" cy="791598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758" y="962382"/>
            <a:ext cx="813792" cy="382429"/>
          </a:xfrm>
          <a:prstGeom prst="roundRect">
            <a:avLst>
              <a:gd name="adj" fmla="val 6561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57131" y="1025009"/>
            <a:ext cx="56304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ИТОГИ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758" y="1421844"/>
            <a:ext cx="5227558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152D47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Результаты работы</a:t>
            </a:r>
            <a:endParaRPr lang="en-US" sz="4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1758" y="2364343"/>
            <a:ext cx="3743801" cy="1824395"/>
          </a:xfrm>
          <a:prstGeom prst="roundRect">
            <a:avLst>
              <a:gd name="adj" fmla="val 171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40832" y="2573417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 Авторизация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40832" y="3015615"/>
            <a:ext cx="332565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Модуль входа с JWT-аутентификацией и безопасным хранением токенов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8322" y="2364343"/>
            <a:ext cx="3743920" cy="1824395"/>
          </a:xfrm>
          <a:prstGeom prst="roundRect">
            <a:avLst>
              <a:gd name="adj" fmla="val 171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877395" y="2573417"/>
            <a:ext cx="3052882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 Управление объектами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77395" y="3015615"/>
            <a:ext cx="3325773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Добавление, редактирование и фильтрация квартир без перезагрузки страниц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31758" y="4381500"/>
            <a:ext cx="7680484" cy="1181695"/>
          </a:xfrm>
          <a:prstGeom prst="roundRect">
            <a:avLst>
              <a:gd name="adj" fmla="val 265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40832" y="4590574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C4C4D"/>
                </a:solidFill>
                <a:latin typeface="Times New Roman" panose="02020603050405020304" pitchFamily="18" charset="0"/>
                <a:ea typeface="Crimson Pro Semi Bold" pitchFamily="34" charset="-122"/>
                <a:cs typeface="Times New Roman" panose="02020603050405020304" pitchFamily="18" charset="0"/>
              </a:rPr>
              <a:t> Бронирования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0832" y="5032772"/>
            <a:ext cx="7262336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Полный цикл обработки заявок: подтверждение, отмена, завершение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31758" y="5780008"/>
            <a:ext cx="7680484" cy="1487091"/>
          </a:xfrm>
          <a:prstGeom prst="roundRect">
            <a:avLst>
              <a:gd name="adj" fmla="val 2109"/>
            </a:avLst>
          </a:prstGeom>
          <a:solidFill>
            <a:srgbClr val="E5E5E0"/>
          </a:solidFill>
          <a:ln/>
        </p:spPr>
        <p:txBody>
          <a:bodyPr/>
          <a:lstStyle/>
          <a:p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40832" y="6025039"/>
            <a:ext cx="7262336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Вывод:</a:t>
            </a: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Heebo" pitchFamily="34" charset="-122"/>
                <a:cs typeface="Times New Roman" panose="02020603050405020304" pitchFamily="18" charset="0"/>
              </a:rPr>
              <a:t> Создан удобный, безопасный и масштабируемый клиентский продукт для автоматизации арендного бизнеса — готов к интеграции с бэкендом.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490</Words>
  <Application>Microsoft Office PowerPoint</Application>
  <PresentationFormat>Произвольный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Crimson Pro Semi Bold</vt:lpstr>
      <vt:lpstr>Times New Roman</vt:lpstr>
      <vt:lpstr>Heebo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Bogdan Zavyalov</dc:creator>
  <cp:lastModifiedBy>Bogdan Zavyalov</cp:lastModifiedBy>
  <cp:revision>2</cp:revision>
  <dcterms:created xsi:type="dcterms:W3CDTF">2026-04-19T12:18:52Z</dcterms:created>
  <dcterms:modified xsi:type="dcterms:W3CDTF">2026-04-19T12:24:23Z</dcterms:modified>
</cp:coreProperties>
</file>