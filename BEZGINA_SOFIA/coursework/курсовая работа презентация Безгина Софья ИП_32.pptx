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4DA09-8BA6-4FB5-B473-B87AFAD88AB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32E5D-8386-4D62-8638-78245DE466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357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B997A8EE-F28F-4F5E-8B3D-8B2A79D4E9D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50C7709-7A07-426E-B76C-B2824D78645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1412776"/>
            <a:ext cx="8064896" cy="1902073"/>
          </a:xfrm>
        </p:spPr>
        <p:txBody>
          <a:bodyPr>
            <a:no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разработка серверной части (BACKEND) для программного комплекса организации арендного бизнеса в различных городах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4149080"/>
            <a:ext cx="7128792" cy="1752600"/>
          </a:xfrm>
        </p:spPr>
        <p:txBody>
          <a:bodyPr>
            <a:normAutofit/>
          </a:bodyPr>
          <a:lstStyle/>
          <a:p>
            <a:pPr algn="l"/>
            <a:r>
              <a:rPr lang="ru-RU" sz="24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студентка гр. № ИП-32 Безгина С.А.</a:t>
            </a:r>
          </a:p>
          <a:p>
            <a:pPr algn="l"/>
            <a:r>
              <a:rPr lang="ru-RU" sz="24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Прохорова И.Н.</a:t>
            </a:r>
            <a:endParaRPr lang="ru-RU" sz="2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4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проекта и планируемые результаты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844824"/>
            <a:ext cx="8219256" cy="4248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/>
              <a:t>Актуальность:</a:t>
            </a:r>
          </a:p>
          <a:p>
            <a:r>
              <a:rPr lang="ru-RU" sz="2000" dirty="0" smtClean="0"/>
              <a:t>Онлайн-платформы аренды жилья востребованы, но существующие решения слабо автоматизируют сделки</a:t>
            </a:r>
          </a:p>
          <a:p>
            <a:r>
              <a:rPr lang="ru-RU" sz="2000" dirty="0" smtClean="0"/>
              <a:t>Высокие риски мошенничества на классических досках объявлений</a:t>
            </a:r>
          </a:p>
          <a:p>
            <a:pPr marL="0" indent="0">
              <a:buNone/>
            </a:pPr>
            <a:r>
              <a:rPr lang="ru-RU" sz="2000" b="1" dirty="0" smtClean="0"/>
              <a:t>Цель: </a:t>
            </a:r>
            <a:r>
              <a:rPr lang="ru-RU" sz="2000" dirty="0" smtClean="0"/>
              <a:t>создание защищённого API для аренды квартир с разграничением прав пользователей</a:t>
            </a:r>
          </a:p>
          <a:p>
            <a:pPr marL="0" indent="0">
              <a:buNone/>
            </a:pPr>
            <a:r>
              <a:rPr lang="ru-RU" sz="2000" b="1" dirty="0" smtClean="0"/>
              <a:t>Задачи, решённые в работе:</a:t>
            </a:r>
          </a:p>
          <a:p>
            <a:r>
              <a:rPr lang="ru-RU" sz="2000" dirty="0" smtClean="0"/>
              <a:t>Разработка механизмов регистрации и входа (JWT + </a:t>
            </a:r>
            <a:r>
              <a:rPr lang="ru-RU" sz="2000" dirty="0" err="1" smtClean="0"/>
              <a:t>BCrypt</a:t>
            </a:r>
            <a:r>
              <a:rPr lang="ru-RU" sz="2000" dirty="0" smtClean="0"/>
              <a:t>)</a:t>
            </a:r>
          </a:p>
          <a:p>
            <a:r>
              <a:rPr lang="ru-RU" sz="2000" dirty="0" smtClean="0"/>
              <a:t>Реализация CRUD-операций с квартирами и фотографиями</a:t>
            </a:r>
          </a:p>
          <a:p>
            <a:r>
              <a:rPr lang="ru-RU" sz="2000" dirty="0" smtClean="0"/>
              <a:t>Создание системы бронирования с проверкой свободных дат</a:t>
            </a:r>
          </a:p>
          <a:p>
            <a:r>
              <a:rPr lang="ru-RU" sz="2000" dirty="0" smtClean="0"/>
              <a:t>Внедрение модуля отзывов и автоматического рейтинга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7336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рынка и позиционирование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844824"/>
            <a:ext cx="8219256" cy="2088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Анализ существующих решений</a:t>
            </a:r>
            <a:r>
              <a:rPr lang="ru-RU" sz="2000" b="1" dirty="0" smtClean="0"/>
              <a:t>:</a:t>
            </a:r>
          </a:p>
          <a:p>
            <a:pPr marL="0" indent="0">
              <a:buNone/>
            </a:pPr>
            <a:endParaRPr lang="ru-RU" sz="20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911304"/>
              </p:ext>
            </p:extLst>
          </p:nvPr>
        </p:nvGraphicFramePr>
        <p:xfrm>
          <a:off x="611560" y="2420888"/>
          <a:ext cx="7992888" cy="2126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2664296"/>
                <a:gridCol w="2664296"/>
              </a:tblGrid>
              <a:tr h="3888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Сильная сторона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Слабая сторона</a:t>
                      </a:r>
                    </a:p>
                  </a:txBody>
                  <a:tcPr/>
                </a:tc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 smtClean="0"/>
                        <a:t>Авито</a:t>
                      </a:r>
                      <a:r>
                        <a:rPr lang="ru-RU" sz="1600" baseline="0" dirty="0" smtClean="0"/>
                        <a:t> / Циан</a:t>
                      </a:r>
                      <a:endParaRPr lang="ru-RU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Огромная база объектов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Платформа не участвует в сделке</a:t>
                      </a:r>
                    </a:p>
                  </a:txBody>
                  <a:tcPr/>
                </a:tc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Airbnb</a:t>
                      </a:r>
                      <a:endParaRPr lang="ru-RU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Удобство краткосрочной аренды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Слабая поддержка долгосрочной аренды</a:t>
                      </a:r>
                    </a:p>
                  </a:txBody>
                  <a:tcPr/>
                </a:tc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/>
                        <a:t>Colife</a:t>
                      </a:r>
                      <a:endParaRPr lang="ru-RU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Полный цикл обслуживания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Только собственный пул квартир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7544" y="4725144"/>
            <a:ext cx="8136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Конкурентное преимущество разрабатываемого </a:t>
            </a:r>
            <a:r>
              <a:rPr lang="ru-RU" b="1" dirty="0" err="1" smtClean="0"/>
              <a:t>backend</a:t>
            </a:r>
            <a:r>
              <a:rPr lang="ru-RU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Активная роль платформы в сделке (статусы, </a:t>
            </a:r>
            <a:r>
              <a:rPr lang="ru-RU" dirty="0" err="1" smtClean="0"/>
              <a:t>модерация</a:t>
            </a:r>
            <a:r>
              <a:rPr lang="ru-RU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5 ролей пользователей с разными правами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Открытый API для интеграции с любым </a:t>
            </a:r>
            <a:r>
              <a:rPr lang="ru-RU" dirty="0" err="1" smtClean="0"/>
              <a:t>фронтендом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990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 и среда разработки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700808"/>
            <a:ext cx="8219256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Выбранные инструменты и обоснование</a:t>
            </a:r>
            <a:r>
              <a:rPr lang="ru-RU" sz="2000" dirty="0" smtClean="0"/>
              <a:t>:</a:t>
            </a:r>
          </a:p>
          <a:p>
            <a:pPr marL="0" indent="0">
              <a:buNone/>
            </a:pPr>
            <a:endParaRPr lang="ru-RU" sz="22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60072"/>
              </p:ext>
            </p:extLst>
          </p:nvPr>
        </p:nvGraphicFramePr>
        <p:xfrm>
          <a:off x="467544" y="2204864"/>
          <a:ext cx="7920882" cy="396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294"/>
                <a:gridCol w="2640294"/>
                <a:gridCol w="2640294"/>
              </a:tblGrid>
              <a:tr h="396185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Компонент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Решение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Почему именно так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946271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Язык </a:t>
                      </a:r>
                      <a:r>
                        <a:rPr lang="en-US" sz="1600" dirty="0" smtClean="0"/>
                        <a:t>backend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C#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Строгая типизация, ошибки на этапе компиляции</a:t>
                      </a:r>
                      <a:endParaRPr lang="ru-RU" sz="1600" dirty="0"/>
                    </a:p>
                  </a:txBody>
                  <a:tcPr/>
                </a:tc>
              </a:tr>
              <a:tr h="66239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Фреймворк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ASP.NET Core 8.0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Встроенный </a:t>
                      </a:r>
                      <a:r>
                        <a:rPr lang="en-US" sz="1600" dirty="0" smtClean="0"/>
                        <a:t>Swagger, Dependency Injection</a:t>
                      </a:r>
                      <a:endParaRPr lang="ru-RU" sz="1600" dirty="0"/>
                    </a:p>
                  </a:txBody>
                  <a:tcPr/>
                </a:tc>
              </a:tr>
              <a:tr h="66239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СУБД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PostgreSQL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Бесплатно, отличная работа с JSON</a:t>
                      </a:r>
                      <a:endParaRPr lang="ru-RU" sz="1600" dirty="0"/>
                    </a:p>
                  </a:txBody>
                  <a:tcPr/>
                </a:tc>
              </a:tr>
              <a:tr h="66239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Доступ к данным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Npgsql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Полный контроль над </a:t>
                      </a:r>
                      <a:r>
                        <a:rPr lang="en-US" sz="1600" dirty="0" smtClean="0"/>
                        <a:t>SQL-</a:t>
                      </a:r>
                      <a:r>
                        <a:rPr lang="ru-RU" sz="1600" dirty="0" smtClean="0"/>
                        <a:t>запросами</a:t>
                      </a:r>
                      <a:endParaRPr lang="ru-RU" sz="1600" dirty="0"/>
                    </a:p>
                  </a:txBody>
                  <a:tcPr/>
                </a:tc>
              </a:tr>
              <a:tr h="630814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Документация </a:t>
                      </a:r>
                      <a:r>
                        <a:rPr lang="en-US" sz="1600" dirty="0" smtClean="0"/>
                        <a:t>API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Swagger UI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err="1" smtClean="0"/>
                        <a:t>Автогенерация</a:t>
                      </a:r>
                      <a:r>
                        <a:rPr lang="ru-RU" sz="1600" dirty="0" smtClean="0"/>
                        <a:t>, тестирование в браузере</a:t>
                      </a:r>
                      <a:endParaRPr lang="ru-RU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25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модель (таблицы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API)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84784"/>
            <a:ext cx="8219256" cy="50405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/>
              <a:t>Основные </a:t>
            </a:r>
            <a:r>
              <a:rPr lang="ru-RU" sz="2000" b="1" dirty="0"/>
              <a:t>сущности (9 таблиц в реализации </a:t>
            </a:r>
            <a:r>
              <a:rPr lang="en-US" sz="2000" b="1" dirty="0"/>
              <a:t>API):</a:t>
            </a:r>
          </a:p>
          <a:p>
            <a:r>
              <a:rPr lang="en-US" sz="2000" dirty="0" err="1"/>
              <a:t>polzovatel</a:t>
            </a:r>
            <a:r>
              <a:rPr lang="en-US" sz="2000" dirty="0"/>
              <a:t> — </a:t>
            </a:r>
            <a:r>
              <a:rPr lang="ru-RU" sz="2000" dirty="0"/>
              <a:t>пользователи (</a:t>
            </a:r>
            <a:r>
              <a:rPr lang="en-US" sz="2000" dirty="0"/>
              <a:t>ID, email, </a:t>
            </a:r>
            <a:r>
              <a:rPr lang="ru-RU" sz="2000" dirty="0"/>
              <a:t>пароль, роль)</a:t>
            </a:r>
          </a:p>
          <a:p>
            <a:r>
              <a:rPr lang="en-US" sz="2000" dirty="0" err="1"/>
              <a:t>arendodatel</a:t>
            </a:r>
            <a:r>
              <a:rPr lang="en-US" sz="2000" dirty="0"/>
              <a:t> / </a:t>
            </a:r>
            <a:r>
              <a:rPr lang="en-US" sz="2000" dirty="0" err="1"/>
              <a:t>arendator</a:t>
            </a:r>
            <a:r>
              <a:rPr lang="en-US" sz="2000" dirty="0"/>
              <a:t> — </a:t>
            </a:r>
            <a:r>
              <a:rPr lang="ru-RU" sz="2000" dirty="0"/>
              <a:t>арендодатели и арендаторы</a:t>
            </a:r>
          </a:p>
          <a:p>
            <a:r>
              <a:rPr lang="en-US" sz="2000" dirty="0" err="1"/>
              <a:t>kartochka_kvartiry</a:t>
            </a:r>
            <a:r>
              <a:rPr lang="en-US" sz="2000" dirty="0"/>
              <a:t> — </a:t>
            </a:r>
            <a:r>
              <a:rPr lang="ru-RU" sz="2000" dirty="0"/>
              <a:t>квартиры (адрес, цена, комнаты, удобства)</a:t>
            </a:r>
          </a:p>
          <a:p>
            <a:r>
              <a:rPr lang="en-US" sz="2000" dirty="0" err="1"/>
              <a:t>photo_kvartiry</a:t>
            </a:r>
            <a:r>
              <a:rPr lang="en-US" sz="2000" dirty="0"/>
              <a:t> — </a:t>
            </a:r>
            <a:r>
              <a:rPr lang="ru-RU" sz="2000" dirty="0"/>
              <a:t>фотографии квартир</a:t>
            </a:r>
          </a:p>
          <a:p>
            <a:r>
              <a:rPr lang="en-US" sz="2000" dirty="0" err="1"/>
              <a:t>bronirovaniye</a:t>
            </a:r>
            <a:r>
              <a:rPr lang="en-US" sz="2000" dirty="0"/>
              <a:t> — </a:t>
            </a:r>
            <a:r>
              <a:rPr lang="ru-RU" sz="2000" dirty="0"/>
              <a:t>бронирования (даты, статус)</a:t>
            </a:r>
          </a:p>
          <a:p>
            <a:r>
              <a:rPr lang="en-US" sz="2000" dirty="0" err="1"/>
              <a:t>otzivy</a:t>
            </a:r>
            <a:r>
              <a:rPr lang="en-US" sz="2000" dirty="0"/>
              <a:t> — </a:t>
            </a:r>
            <a:r>
              <a:rPr lang="ru-RU" sz="2000" dirty="0"/>
              <a:t>отзывы (оценка, текст</a:t>
            </a:r>
            <a:r>
              <a:rPr lang="ru-RU" sz="2000" dirty="0" smtClean="0"/>
              <a:t>)</a:t>
            </a:r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r>
              <a:rPr lang="ru-RU" sz="2000" b="1" dirty="0" smtClean="0"/>
              <a:t>Ключевые связи (на уровне моего кода):</a:t>
            </a:r>
            <a:endParaRPr lang="ru-RU" sz="2000" dirty="0" smtClean="0"/>
          </a:p>
          <a:p>
            <a:r>
              <a:rPr lang="en-US" sz="2000" dirty="0" err="1" smtClean="0"/>
              <a:t>polzovatel</a:t>
            </a:r>
            <a:r>
              <a:rPr lang="en-US" sz="2000" dirty="0" smtClean="0"/>
              <a:t> (1) → </a:t>
            </a:r>
            <a:r>
              <a:rPr lang="en-US" sz="2000" dirty="0" err="1" smtClean="0"/>
              <a:t>arendodatel</a:t>
            </a:r>
            <a:r>
              <a:rPr lang="en-US" sz="2000" dirty="0" smtClean="0"/>
              <a:t> (1) → </a:t>
            </a:r>
            <a:r>
              <a:rPr lang="en-US" sz="2000" dirty="0" err="1" smtClean="0"/>
              <a:t>kartochka_kvartiry</a:t>
            </a:r>
            <a:r>
              <a:rPr lang="en-US" sz="2000" dirty="0" smtClean="0"/>
              <a:t> (M)</a:t>
            </a:r>
          </a:p>
          <a:p>
            <a:r>
              <a:rPr lang="en-US" sz="2000" dirty="0" err="1" smtClean="0"/>
              <a:t>arendator</a:t>
            </a:r>
            <a:r>
              <a:rPr lang="en-US" sz="2000" dirty="0" smtClean="0"/>
              <a:t> (1) → </a:t>
            </a:r>
            <a:r>
              <a:rPr lang="en-US" sz="2000" dirty="0" err="1" smtClean="0"/>
              <a:t>bronirovaniye</a:t>
            </a:r>
            <a:r>
              <a:rPr lang="en-US" sz="2000" dirty="0" smtClean="0"/>
              <a:t> (M) → </a:t>
            </a:r>
            <a:r>
              <a:rPr lang="en-US" sz="2000" dirty="0" err="1" smtClean="0"/>
              <a:t>kartochka_kvartiry</a:t>
            </a:r>
            <a:r>
              <a:rPr lang="en-US" sz="2000" dirty="0" smtClean="0"/>
              <a:t> (1)</a:t>
            </a:r>
          </a:p>
          <a:p>
            <a:r>
              <a:rPr lang="en-US" sz="2000" dirty="0" err="1" smtClean="0"/>
              <a:t>bronirovaniye</a:t>
            </a:r>
            <a:r>
              <a:rPr lang="en-US" sz="2000" dirty="0" smtClean="0"/>
              <a:t> (1) → </a:t>
            </a:r>
            <a:r>
              <a:rPr lang="en-US" sz="2000" dirty="0" err="1" smtClean="0"/>
              <a:t>otzivy</a:t>
            </a:r>
            <a:r>
              <a:rPr lang="en-US" sz="2000" dirty="0" smtClean="0"/>
              <a:t> (1) — </a:t>
            </a:r>
            <a:r>
              <a:rPr lang="ru-RU" sz="2000" dirty="0" smtClean="0"/>
              <a:t>отзыв только после завершённой аренды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41850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48680"/>
            <a:ext cx="91440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(1 часть)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84784"/>
            <a:ext cx="8219256" cy="4464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/>
              <a:t>Типы данных для ключевых полей:</a:t>
            </a:r>
          </a:p>
          <a:p>
            <a:pPr marL="0" indent="0">
              <a:buNone/>
            </a:pPr>
            <a:endParaRPr lang="ru-RU" sz="22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549702"/>
              </p:ext>
            </p:extLst>
          </p:nvPr>
        </p:nvGraphicFramePr>
        <p:xfrm>
          <a:off x="539552" y="1916832"/>
          <a:ext cx="792088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3"/>
                <a:gridCol w="2592288"/>
                <a:gridCol w="324036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Поле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Тип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Что хранит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SERIAL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Авто-инкрементный ключ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tsena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DECIMAL(10,2)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Цена (рубли, копейки)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data_zayezda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 заезда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parol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VARCHAR(255)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Хэш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пароля (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BCrypt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59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48680"/>
            <a:ext cx="91440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(2 часть)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6368" y="1430018"/>
            <a:ext cx="8219256" cy="3528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/>
              <a:t>Типы данных для ключевых полей:</a:t>
            </a:r>
          </a:p>
          <a:p>
            <a:pPr marL="0" indent="0">
              <a:buNone/>
            </a:pPr>
            <a:endParaRPr lang="ru-RU" sz="22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726225"/>
              </p:ext>
            </p:extLst>
          </p:nvPr>
        </p:nvGraphicFramePr>
        <p:xfrm>
          <a:off x="539552" y="1916832"/>
          <a:ext cx="7920882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3"/>
                <a:gridCol w="2592288"/>
                <a:gridCol w="324036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Ограничение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Где</a:t>
                      </a:r>
                      <a:r>
                        <a:rPr lang="ru-RU" sz="16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используется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Зачем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tsena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 0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Цена не может быть отрицательной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login, email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Нельзя зарегистрироваться дважды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 KEY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arendodatel_id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polzovatel.id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Квартира привязана к владельцу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DELETE CASCADE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photo_kvartiry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Удалилась квартира → удалились фото</a:t>
                      </a:r>
                      <a:endParaRPr lang="ru-RU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4941168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Индексы (для быстрого поиска):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 smtClean="0"/>
              <a:t>gorod_id</a:t>
            </a:r>
            <a:r>
              <a:rPr lang="ru-RU" dirty="0" smtClean="0"/>
              <a:t> — поиск по городу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 smtClean="0"/>
              <a:t>tsena</a:t>
            </a:r>
            <a:r>
              <a:rPr lang="ru-RU" dirty="0" smtClean="0"/>
              <a:t> — фильтр по цене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 smtClean="0"/>
              <a:t>data_zayezda</a:t>
            </a:r>
            <a:r>
              <a:rPr lang="ru-RU" dirty="0" smtClean="0"/>
              <a:t> — проверка свободных дат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821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API-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эндпоинтов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484784"/>
            <a:ext cx="8219256" cy="50405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/>
              <a:t>Всего разработано: </a:t>
            </a:r>
            <a:r>
              <a:rPr lang="ru-RU" sz="2000" dirty="0" smtClean="0"/>
              <a:t>31 </a:t>
            </a:r>
            <a:r>
              <a:rPr lang="ru-RU" sz="2000" dirty="0" err="1" smtClean="0"/>
              <a:t>эндпоинт</a:t>
            </a: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2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197516"/>
              </p:ext>
            </p:extLst>
          </p:nvPr>
        </p:nvGraphicFramePr>
        <p:xfrm>
          <a:off x="683568" y="1988840"/>
          <a:ext cx="7992888" cy="379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73"/>
                <a:gridCol w="1944216"/>
                <a:gridCol w="36003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Модуль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Количество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Примеры</a:t>
                      </a:r>
                      <a:r>
                        <a:rPr lang="ru-RU" sz="16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методов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AuthController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3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/register, POST /login, POST /forgot-password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UsersController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6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/users/{id}, PUT /users/{id}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ApartmentsController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9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/apartments/search, POST /apartments, POST /{id}/photos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BookingsController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7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/bookings, PUT /{id}/confirm, PUT /{id}/cancel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ReviewsController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4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/apartment/{id}, POST /reviews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AvatarController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3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/{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}, GET /{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}, DELETE /{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ru-RU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PaymentController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2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/methods, POST /process</a:t>
                      </a:r>
                      <a:endParaRPr lang="ru-RU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5949280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Самая мощная функция:</a:t>
            </a:r>
            <a:r>
              <a:rPr lang="ru-RU" sz="2000" dirty="0"/>
              <a:t> поиск квартир с фильтрацией по 20+ параметрам</a:t>
            </a:r>
          </a:p>
        </p:txBody>
      </p:sp>
    </p:spTree>
    <p:extLst>
      <p:ext uri="{BB962C8B-B14F-4D97-AF65-F5344CB8AC3E}">
        <p14:creationId xmlns:p14="http://schemas.microsoft.com/office/powerpoint/2010/main" val="386188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и методика испытаний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12776"/>
            <a:ext cx="8219256" cy="36724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Стратегия:</a:t>
            </a:r>
            <a:r>
              <a:rPr lang="ru-RU" sz="2000" dirty="0"/>
              <a:t> «чёрный ящик» (API снаружи) + «белый ящик» (внутренняя логика</a:t>
            </a:r>
            <a:r>
              <a:rPr lang="ru-RU" sz="2000" dirty="0" smtClean="0"/>
              <a:t>)</a:t>
            </a:r>
          </a:p>
          <a:p>
            <a:pPr marL="0" indent="0">
              <a:buNone/>
            </a:pPr>
            <a:r>
              <a:rPr lang="ru-RU" sz="2000" b="1" dirty="0"/>
              <a:t>Этапы проверки</a:t>
            </a:r>
            <a:r>
              <a:rPr lang="ru-RU" sz="2000" b="1" dirty="0" smtClean="0"/>
              <a:t>:</a:t>
            </a:r>
          </a:p>
          <a:p>
            <a:pPr marL="0" indent="0">
              <a:buNone/>
            </a:pPr>
            <a:endParaRPr lang="ru-RU" sz="20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42920"/>
              </p:ext>
            </p:extLst>
          </p:nvPr>
        </p:nvGraphicFramePr>
        <p:xfrm>
          <a:off x="611559" y="2492896"/>
          <a:ext cx="7992888" cy="2151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2664296"/>
                <a:gridCol w="2664296"/>
              </a:tblGrid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Этап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Что</a:t>
                      </a:r>
                      <a:r>
                        <a:rPr lang="ru-RU" sz="16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проверяли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Инструмент</a:t>
                      </a:r>
                      <a:endParaRPr lang="ru-RU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Автономный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Сервисы, </a:t>
                      </a:r>
                      <a:r>
                        <a:rPr lang="ru-RU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хэширование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генерацию 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JWT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Unit-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тесты (подготовка)</a:t>
                      </a:r>
                      <a:endParaRPr lang="ru-RU" sz="1600" dirty="0"/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Интеграционный 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Сквозные сценарии (</a:t>
                      </a:r>
                      <a:r>
                        <a:rPr lang="ru-RU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квартира → </a:t>
                      </a:r>
                      <a:r>
                        <a:rPr lang="ru-RU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брон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Swagger UI</a:t>
                      </a:r>
                      <a:endParaRPr lang="ru-RU" sz="1600" dirty="0"/>
                    </a:p>
                  </a:txBody>
                  <a:tcPr/>
                </a:tc>
              </a:tr>
              <a:tr h="414046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Приёмочный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Соответствие требованиям ФТ и НФТ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Swagger UI</a:t>
                      </a:r>
                      <a:endParaRPr lang="ru-RU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4797152"/>
            <a:ext cx="8208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Условия успешного тестирования: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Корректные HTTP-коды (200, 400, 401, 403, 404)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Без </a:t>
            </a:r>
            <a:r>
              <a:rPr lang="ru-RU" dirty="0" err="1"/>
              <a:t>токена</a:t>
            </a:r>
            <a:r>
              <a:rPr lang="ru-RU" dirty="0"/>
              <a:t> → 401 </a:t>
            </a:r>
            <a:r>
              <a:rPr lang="ru-RU" dirty="0" err="1"/>
              <a:t>Unauthorized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Чужая квартира → 403 </a:t>
            </a:r>
            <a:r>
              <a:rPr lang="ru-RU" dirty="0" err="1"/>
              <a:t>Forbidden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Понятные сообщения об ошибках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116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84784"/>
            <a:ext cx="8219256" cy="460851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200" b="1" dirty="0" smtClean="0"/>
              <a:t>Протестировано</a:t>
            </a:r>
            <a:r>
              <a:rPr lang="ru-RU" sz="2200" b="1" dirty="0"/>
              <a:t>:</a:t>
            </a:r>
            <a:r>
              <a:rPr lang="ru-RU" sz="2200" dirty="0"/>
              <a:t> 31 </a:t>
            </a:r>
            <a:r>
              <a:rPr lang="ru-RU" sz="2200" dirty="0" err="1"/>
              <a:t>эндпоинт</a:t>
            </a:r>
            <a:endParaRPr lang="ru-RU" sz="2200" dirty="0"/>
          </a:p>
          <a:p>
            <a:pPr marL="0" indent="0">
              <a:lnSpc>
                <a:spcPct val="120000"/>
              </a:lnSpc>
              <a:buNone/>
            </a:pPr>
            <a:r>
              <a:rPr lang="ru-RU" sz="2200" b="1" dirty="0"/>
              <a:t>Успешных ответов (</a:t>
            </a:r>
            <a:r>
              <a:rPr lang="ru-RU" sz="2200" b="1" dirty="0" smtClean="0"/>
              <a:t>200):</a:t>
            </a:r>
            <a:r>
              <a:rPr lang="ru-RU" sz="2200" dirty="0"/>
              <a:t> </a:t>
            </a:r>
            <a:r>
              <a:rPr lang="ru-RU" sz="2200" dirty="0" smtClean="0"/>
              <a:t>31</a:t>
            </a:r>
            <a:endParaRPr lang="ru-RU" sz="2200" dirty="0"/>
          </a:p>
          <a:p>
            <a:pPr marL="0" indent="0">
              <a:lnSpc>
                <a:spcPct val="120000"/>
              </a:lnSpc>
              <a:buNone/>
            </a:pPr>
            <a:r>
              <a:rPr lang="ru-RU" sz="2200" b="1" dirty="0"/>
              <a:t>Проверено:</a:t>
            </a:r>
            <a:endParaRPr lang="ru-RU" sz="2200" dirty="0"/>
          </a:p>
          <a:p>
            <a:pPr>
              <a:lnSpc>
                <a:spcPct val="120000"/>
              </a:lnSpc>
            </a:pPr>
            <a:r>
              <a:rPr lang="ru-RU" sz="2200" dirty="0"/>
              <a:t>Регистрация и вход (JWT)</a:t>
            </a:r>
          </a:p>
          <a:p>
            <a:pPr>
              <a:lnSpc>
                <a:spcPct val="120000"/>
              </a:lnSpc>
            </a:pPr>
            <a:r>
              <a:rPr lang="ru-RU" sz="2200" dirty="0" err="1"/>
              <a:t>Хэширование</a:t>
            </a:r>
            <a:r>
              <a:rPr lang="ru-RU" sz="2200" dirty="0"/>
              <a:t> паролей (</a:t>
            </a:r>
            <a:r>
              <a:rPr lang="ru-RU" sz="2200" dirty="0" err="1"/>
              <a:t>BCrypt</a:t>
            </a:r>
            <a:r>
              <a:rPr lang="ru-RU" sz="2200" dirty="0"/>
              <a:t>)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CRUD квартир и загрузка фото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Поиск с фильтрацией (20+ параметров)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Бронирование с проверкой дат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Отзывы только после аренды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Доступ без </a:t>
            </a:r>
            <a:r>
              <a:rPr lang="ru-RU" sz="2200" dirty="0" err="1"/>
              <a:t>токена</a:t>
            </a:r>
            <a:r>
              <a:rPr lang="ru-RU" sz="2200" dirty="0"/>
              <a:t> → 401</a:t>
            </a:r>
          </a:p>
          <a:p>
            <a:pPr>
              <a:lnSpc>
                <a:spcPct val="120000"/>
              </a:lnSpc>
            </a:pPr>
            <a:r>
              <a:rPr lang="ru-RU" sz="2200" dirty="0"/>
              <a:t>Доступ к чужой квартире → 403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200" b="1" dirty="0"/>
              <a:t>Результат:</a:t>
            </a:r>
            <a:r>
              <a:rPr lang="ru-RU" sz="2200" dirty="0"/>
              <a:t> все 19 сценариев ПМИ пройдены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534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направления развития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628800"/>
            <a:ext cx="8352928" cy="4896543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8000" b="1" dirty="0"/>
              <a:t>Итог работы:</a:t>
            </a:r>
            <a:endParaRPr lang="ru-RU" sz="8000" dirty="0"/>
          </a:p>
          <a:p>
            <a:pPr>
              <a:lnSpc>
                <a:spcPct val="120000"/>
              </a:lnSpc>
            </a:pPr>
            <a:r>
              <a:rPr lang="ru-RU" sz="8000" dirty="0"/>
              <a:t>Создан полностью рабочий </a:t>
            </a:r>
            <a:r>
              <a:rPr lang="ru-RU" sz="8000" dirty="0" err="1"/>
              <a:t>backend</a:t>
            </a:r>
            <a:r>
              <a:rPr lang="ru-RU" sz="8000" dirty="0"/>
              <a:t> на C# / ASP.NET </a:t>
            </a:r>
            <a:r>
              <a:rPr lang="ru-RU" sz="8000" dirty="0" err="1"/>
              <a:t>Core</a:t>
            </a:r>
            <a:endParaRPr lang="ru-RU" sz="8000" dirty="0"/>
          </a:p>
          <a:p>
            <a:pPr>
              <a:lnSpc>
                <a:spcPct val="120000"/>
              </a:lnSpc>
            </a:pPr>
            <a:r>
              <a:rPr lang="ru-RU" sz="8000" dirty="0"/>
              <a:t>Реализовано 31 API-метод для платформы аренды жилья</a:t>
            </a:r>
          </a:p>
          <a:p>
            <a:pPr>
              <a:lnSpc>
                <a:spcPct val="120000"/>
              </a:lnSpc>
            </a:pPr>
            <a:r>
              <a:rPr lang="ru-RU" sz="8000" dirty="0"/>
              <a:t>Обеспечена безопасность: JWT + </a:t>
            </a:r>
            <a:r>
              <a:rPr lang="ru-RU" sz="8000" dirty="0" err="1"/>
              <a:t>BCrypt</a:t>
            </a:r>
            <a:r>
              <a:rPr lang="ru-RU" sz="8000" dirty="0"/>
              <a:t> + ролевой доступ</a:t>
            </a:r>
          </a:p>
          <a:p>
            <a:pPr>
              <a:lnSpc>
                <a:spcPct val="120000"/>
              </a:lnSpc>
            </a:pPr>
            <a:r>
              <a:rPr lang="ru-RU" sz="8000" dirty="0"/>
              <a:t>Проведено тестирование через </a:t>
            </a:r>
            <a:r>
              <a:rPr lang="ru-RU" sz="8000" dirty="0" err="1"/>
              <a:t>Swagger</a:t>
            </a:r>
            <a:r>
              <a:rPr lang="ru-RU" sz="8000" dirty="0"/>
              <a:t>, все сценарии пройдены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8000" b="1" dirty="0"/>
              <a:t>Что оставлено на будущее:</a:t>
            </a:r>
            <a:endParaRPr lang="ru-RU" sz="8000" dirty="0"/>
          </a:p>
          <a:p>
            <a:pPr>
              <a:lnSpc>
                <a:spcPct val="120000"/>
              </a:lnSpc>
            </a:pPr>
            <a:r>
              <a:rPr lang="ru-RU" sz="8000" dirty="0"/>
              <a:t>Настоящее восстановление пароля (учебная заглушка)</a:t>
            </a:r>
          </a:p>
          <a:p>
            <a:pPr>
              <a:lnSpc>
                <a:spcPct val="120000"/>
              </a:lnSpc>
            </a:pPr>
            <a:r>
              <a:rPr lang="ru-RU" sz="8000" dirty="0"/>
              <a:t>Реальная интеграция с платёжным шлюзом</a:t>
            </a:r>
          </a:p>
          <a:p>
            <a:pPr>
              <a:lnSpc>
                <a:spcPct val="120000"/>
              </a:lnSpc>
            </a:pPr>
            <a:r>
              <a:rPr lang="ru-RU" sz="8000" dirty="0"/>
              <a:t>Функционал избранного (таблица в БД есть, логики нет)</a:t>
            </a:r>
          </a:p>
          <a:p>
            <a:pPr>
              <a:lnSpc>
                <a:spcPct val="120000"/>
              </a:lnSpc>
            </a:pPr>
            <a:r>
              <a:rPr lang="ru-RU" sz="8000" dirty="0"/>
              <a:t>Роли администратора и поддержки (только анализ)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8000" b="1" dirty="0"/>
              <a:t>Потенциал развития:</a:t>
            </a:r>
            <a:endParaRPr lang="ru-RU" sz="8000" dirty="0"/>
          </a:p>
          <a:p>
            <a:pPr>
              <a:lnSpc>
                <a:spcPct val="120000"/>
              </a:lnSpc>
            </a:pPr>
            <a:r>
              <a:rPr lang="ru-RU" sz="8000" dirty="0"/>
              <a:t>Разработка </a:t>
            </a:r>
            <a:r>
              <a:rPr lang="ru-RU" sz="8000" dirty="0" err="1"/>
              <a:t>фронтенда</a:t>
            </a:r>
            <a:r>
              <a:rPr lang="ru-RU" sz="8000" dirty="0"/>
              <a:t> на </a:t>
            </a:r>
            <a:r>
              <a:rPr lang="ru-RU" sz="8000" dirty="0" err="1"/>
              <a:t>React</a:t>
            </a:r>
            <a:r>
              <a:rPr lang="ru-RU" sz="8000" dirty="0"/>
              <a:t>/</a:t>
            </a:r>
            <a:r>
              <a:rPr lang="ru-RU" sz="8000" dirty="0" err="1"/>
              <a:t>Vue</a:t>
            </a:r>
            <a:endParaRPr lang="ru-RU" sz="8000" dirty="0"/>
          </a:p>
          <a:p>
            <a:pPr>
              <a:lnSpc>
                <a:spcPct val="120000"/>
              </a:lnSpc>
            </a:pPr>
            <a:r>
              <a:rPr lang="ru-RU" sz="8000" dirty="0"/>
              <a:t>Внедрение веб-сокетов для уведомлений</a:t>
            </a:r>
          </a:p>
          <a:p>
            <a:pPr>
              <a:lnSpc>
                <a:spcPct val="120000"/>
              </a:lnSpc>
            </a:pPr>
            <a:r>
              <a:rPr lang="ru-RU" sz="8000" dirty="0"/>
              <a:t>Нагрузочное тестирование на 1000+ пользователей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3097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628800"/>
            <a:ext cx="8352928" cy="4896543"/>
          </a:xfrm>
        </p:spPr>
        <p:txBody>
          <a:bodyPr>
            <a:normAutofit/>
          </a:bodyPr>
          <a:lstStyle/>
          <a:p>
            <a:r>
              <a:rPr lang="ru-RU" sz="2000" dirty="0"/>
              <a:t>Цели курсовой работы полностью достигнуты</a:t>
            </a:r>
          </a:p>
          <a:p>
            <a:r>
              <a:rPr lang="ru-RU" sz="2000" dirty="0"/>
              <a:t>Разработан защищённый REST API для аренды квартир</a:t>
            </a:r>
          </a:p>
          <a:p>
            <a:r>
              <a:rPr lang="ru-RU" sz="2000" dirty="0"/>
              <a:t>Реализованы 31 </a:t>
            </a:r>
            <a:r>
              <a:rPr lang="ru-RU" sz="2000" dirty="0" err="1"/>
              <a:t>эндпоинт</a:t>
            </a:r>
            <a:r>
              <a:rPr lang="ru-RU" sz="2000" dirty="0"/>
              <a:t>, JWT-аутентификация, </a:t>
            </a:r>
            <a:r>
              <a:rPr lang="ru-RU" sz="2000" dirty="0" err="1"/>
              <a:t>BCrypt</a:t>
            </a:r>
            <a:endParaRPr lang="ru-RU" sz="2000" dirty="0"/>
          </a:p>
          <a:p>
            <a:r>
              <a:rPr lang="ru-RU" sz="2000" dirty="0"/>
              <a:t>Проведено тестирование через </a:t>
            </a:r>
            <a:r>
              <a:rPr lang="ru-RU" sz="2000" dirty="0" err="1"/>
              <a:t>Swagger</a:t>
            </a:r>
            <a:endParaRPr lang="ru-RU" sz="2000" dirty="0"/>
          </a:p>
          <a:p>
            <a:r>
              <a:rPr lang="ru-RU" sz="2000" dirty="0" err="1"/>
              <a:t>Бэкенд</a:t>
            </a:r>
            <a:r>
              <a:rPr lang="ru-RU" sz="2000" dirty="0"/>
              <a:t> готов к интеграции с </a:t>
            </a:r>
            <a:r>
              <a:rPr lang="ru-RU" sz="2000" dirty="0" err="1"/>
              <a:t>фронтендом</a:t>
            </a:r>
            <a:endParaRPr lang="ru-RU" sz="2000" dirty="0"/>
          </a:p>
          <a:p>
            <a:r>
              <a:rPr lang="ru-RU" sz="2000" dirty="0"/>
              <a:t>Может служить основой для коммерческого сервиса аренды жилья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342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Другая 15">
      <a:dk1>
        <a:srgbClr val="672F48"/>
      </a:dk1>
      <a:lt1>
        <a:sysClr val="window" lastClr="FFFFFF"/>
      </a:lt1>
      <a:dk2>
        <a:srgbClr val="BD7193"/>
      </a:dk2>
      <a:lt2>
        <a:srgbClr val="F4E7ED"/>
      </a:lt2>
      <a:accent1>
        <a:srgbClr val="E4C6D3"/>
      </a:accent1>
      <a:accent2>
        <a:srgbClr val="D7A9BE"/>
      </a:accent2>
      <a:accent3>
        <a:srgbClr val="A8D7E6"/>
      </a:accent3>
      <a:accent4>
        <a:srgbClr val="FFEBA3"/>
      </a:accent4>
      <a:accent5>
        <a:srgbClr val="CF6DA4"/>
      </a:accent5>
      <a:accent6>
        <a:srgbClr val="CE95AF"/>
      </a:accent6>
      <a:hlink>
        <a:srgbClr val="FBD388"/>
      </a:hlink>
      <a:folHlink>
        <a:srgbClr val="3E72B6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267</TotalTime>
  <Words>602</Words>
  <Application>Microsoft Office PowerPoint</Application>
  <PresentationFormat>Экран (4:3)</PresentationFormat>
  <Paragraphs>184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Городская</vt:lpstr>
      <vt:lpstr>Проектирование и разработка серверной части (BACKEND) для программного комплекса организации арендного бизнеса в различных городах</vt:lpstr>
      <vt:lpstr>Обоснование проекта и планируемые результаты</vt:lpstr>
      <vt:lpstr>Обзор рынка и позиционирование</vt:lpstr>
      <vt:lpstr>Технологический стек и среда разработки</vt:lpstr>
      <vt:lpstr>Логическая модель (таблицы API)</vt:lpstr>
      <vt:lpstr>Физическая модель данных (1 часть)</vt:lpstr>
      <vt:lpstr>Физическая модель данных (2 часть)</vt:lpstr>
      <vt:lpstr>Состав API-эндпоинтов</vt:lpstr>
      <vt:lpstr>Программа и методика испытаний</vt:lpstr>
      <vt:lpstr>Результаты тестирования</vt:lpstr>
      <vt:lpstr>Выводы и направления развития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 разработка серверной части (BACKEND) для программного комплекса организации арендного бизнеса в различных городах</dc:title>
  <dc:creator>Софья Безгина</dc:creator>
  <cp:lastModifiedBy>Софья Безгина</cp:lastModifiedBy>
  <cp:revision>24</cp:revision>
  <dcterms:created xsi:type="dcterms:W3CDTF">2026-04-13T15:02:21Z</dcterms:created>
  <dcterms:modified xsi:type="dcterms:W3CDTF">2026-04-14T03:26:54Z</dcterms:modified>
</cp:coreProperties>
</file>