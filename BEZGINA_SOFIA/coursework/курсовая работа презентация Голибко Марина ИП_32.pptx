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475A"/>
    <a:srgbClr val="264558"/>
    <a:srgbClr val="2A4B60"/>
    <a:srgbClr val="2282BE"/>
    <a:srgbClr val="1982B1"/>
    <a:srgbClr val="1C232B"/>
    <a:srgbClr val="1E252E"/>
    <a:srgbClr val="1B222A"/>
    <a:srgbClr val="1D3543"/>
    <a:srgbClr val="1573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607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623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540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45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335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898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05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94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993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828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4787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326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882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798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906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560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">
              <a:srgbClr val="1E252E"/>
            </a:gs>
            <a:gs pos="79000">
              <a:srgbClr val="28475A"/>
            </a:gs>
            <a:gs pos="26000">
              <a:srgbClr val="264558"/>
            </a:gs>
            <a:gs pos="100000">
              <a:srgbClr val="1C232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CADDB-2898-4641-A954-08621BAADF65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4ABF066-121A-4833-BC58-BE74AC22A0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5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E2CB9-10C9-41C7-B77F-0BF7EA2B9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216404"/>
            <a:ext cx="7766936" cy="2834432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механизма программного доступа к метаинформации реляционной СУБД в коде комплекса для организации арендного бизнеса в условиях </a:t>
            </a:r>
            <a:r>
              <a:rPr lang="ru-RU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многогородней</a:t>
            </a: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структуры.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3D9BB9-04F7-4526-8BB5-9D3CCCDC18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студент группы № ИП-32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Голибко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М.М.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Проверил: преподаватель Прохорова И.Н.</a:t>
            </a:r>
          </a:p>
        </p:txBody>
      </p:sp>
    </p:spTree>
    <p:extLst>
      <p:ext uri="{BB962C8B-B14F-4D97-AF65-F5344CB8AC3E}">
        <p14:creationId xmlns:p14="http://schemas.microsoft.com/office/powerpoint/2010/main" val="377080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2CA26-C984-4F9C-882E-69897605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и 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8797C-0549-4851-9442-F80BB0069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770" y="1616059"/>
            <a:ext cx="8596668" cy="38807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Разные регионы требуют специфических атрибутов недвижимости</a:t>
            </a:r>
          </a:p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Традиционный подход (жесткое описание таблиц в коде) приводит к:</a:t>
            </a:r>
          </a:p>
          <a:p>
            <a:pPr lvl="1"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Избыточности кода</a:t>
            </a:r>
          </a:p>
          <a:p>
            <a:pPr lvl="1"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Сложности поддержки (перекомпиляция при изменении БД)</a:t>
            </a:r>
          </a:p>
          <a:p>
            <a:pPr lvl="1"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Трудностям интеграции новых городов</a:t>
            </a:r>
          </a:p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разработки:</a:t>
            </a:r>
          </a:p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механизм, позволяющий серверной части динамически «узнавать» структуру данных из СУБД</a:t>
            </a:r>
          </a:p>
        </p:txBody>
      </p:sp>
    </p:spTree>
    <p:extLst>
      <p:ext uri="{BB962C8B-B14F-4D97-AF65-F5344CB8AC3E}">
        <p14:creationId xmlns:p14="http://schemas.microsoft.com/office/powerpoint/2010/main" val="67240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2CA26-C984-4F9C-882E-69897605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8797C-0549-4851-9442-F80BB0069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2220"/>
            <a:ext cx="8596668" cy="451932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механизму: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Динамическое получение схемы данных (опрос системных таблиц)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CRUD-операций на основе метаданных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расширяемых атрибутов (без перекомпиляции)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Унификация интерфейса доступа (единый </a:t>
            </a:r>
            <a:r>
              <a:rPr lang="ru-RU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DataAccess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Layer)</a:t>
            </a:r>
          </a:p>
          <a:p>
            <a:pPr marL="514350" indent="-514350" algn="just">
              <a:buFont typeface="+mj-lt"/>
              <a:buAutoNum type="arabicPeriod"/>
            </a:pPr>
            <a:endParaRPr lang="ru-RU" sz="2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 к модулю интегратора:</a:t>
            </a:r>
          </a:p>
          <a:p>
            <a:pPr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Подключение к </a:t>
            </a:r>
            <a:r>
              <a:rPr lang="ru-RU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через </a:t>
            </a:r>
            <a:r>
              <a:rPr lang="ru-RU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Npgsql</a:t>
            </a:r>
            <a:endParaRPr lang="ru-RU" sz="2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Чтение системного каталога БД</a:t>
            </a:r>
          </a:p>
          <a:p>
            <a:pPr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Маппинг динамических атрибутов в DTO</a:t>
            </a:r>
          </a:p>
          <a:p>
            <a:pPr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в общий код комплекса</a:t>
            </a:r>
          </a:p>
        </p:txBody>
      </p:sp>
    </p:spTree>
    <p:extLst>
      <p:ext uri="{BB962C8B-B14F-4D97-AF65-F5344CB8AC3E}">
        <p14:creationId xmlns:p14="http://schemas.microsoft.com/office/powerpoint/2010/main" val="3938322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2CA26-C984-4F9C-882E-69897605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Выбор технологического стека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8797C-0549-4851-9442-F80BB0069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6" y="1339282"/>
            <a:ext cx="10515600" cy="59111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выбора инструментов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FFF83D32-68BA-4381-987A-BBC17D331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408501"/>
              </p:ext>
            </p:extLst>
          </p:nvPr>
        </p:nvGraphicFramePr>
        <p:xfrm>
          <a:off x="793542" y="1843388"/>
          <a:ext cx="10076516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6550">
                  <a:extLst>
                    <a:ext uri="{9D8B030D-6E8A-4147-A177-3AD203B41FA5}">
                      <a16:colId xmlns:a16="http://schemas.microsoft.com/office/drawing/2014/main" val="4077988112"/>
                    </a:ext>
                  </a:extLst>
                </a:gridCol>
                <a:gridCol w="5719966">
                  <a:extLst>
                    <a:ext uri="{9D8B030D-6E8A-4147-A177-3AD203B41FA5}">
                      <a16:colId xmlns:a16="http://schemas.microsoft.com/office/drawing/2014/main" val="2800918038"/>
                    </a:ext>
                  </a:extLst>
                </a:gridCol>
              </a:tblGrid>
              <a:tr h="436017">
                <a:tc>
                  <a:txBody>
                    <a:bodyPr/>
                    <a:lstStyle/>
                    <a:p>
                      <a:pPr algn="l"/>
                      <a:r>
                        <a:rPr lang="ru-RU" sz="2400" b="0" u="non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Категория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u="non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Выбранный инструмент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505413"/>
                  </a:ext>
                </a:extLst>
              </a:tr>
              <a:tr h="784831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СУБД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 (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бесплатно, поддержка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JSON, 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сложных запросов)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35671"/>
                  </a:ext>
                </a:extLst>
              </a:tr>
              <a:tr h="436017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 для работы с БД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DBeaver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699118"/>
                  </a:ext>
                </a:extLst>
              </a:tr>
              <a:tr h="436017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Библиотека доступа к данным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Npgsql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263976"/>
                  </a:ext>
                </a:extLst>
              </a:tr>
              <a:tr h="436017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Среда разработки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Studio 2022, VS Code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16083"/>
                  </a:ext>
                </a:extLst>
              </a:tr>
              <a:tr h="436017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Фреймворк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ASP.NET Core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66993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9AF9C2D-6223-41C5-A753-4EC7F15424CB}"/>
              </a:ext>
            </a:extLst>
          </p:cNvPr>
          <p:cNvSpPr txBox="1"/>
          <p:nvPr/>
        </p:nvSpPr>
        <p:spPr>
          <a:xfrm>
            <a:off x="756006" y="4952348"/>
            <a:ext cx="851799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</a:t>
            </a:r>
            <a:r>
              <a:rPr lang="ru-RU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Npgsql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прямой доступ к системным каталогам </a:t>
            </a:r>
            <a:r>
              <a:rPr lang="ru-RU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выполнение динамических SQL-запросов, дает полный контроль над кодом</a:t>
            </a:r>
          </a:p>
        </p:txBody>
      </p:sp>
    </p:spTree>
    <p:extLst>
      <p:ext uri="{BB962C8B-B14F-4D97-AF65-F5344CB8AC3E}">
        <p14:creationId xmlns:p14="http://schemas.microsoft.com/office/powerpoint/2010/main" val="2538893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2CA26-C984-4F9C-882E-69897605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БД (словари данных)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8797C-0549-4851-9442-F80BB0069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7511"/>
            <a:ext cx="8364523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блоки:</a:t>
            </a:r>
          </a:p>
          <a:p>
            <a:pPr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Локация и география (страны, регионы, города)</a:t>
            </a:r>
          </a:p>
          <a:p>
            <a:pPr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и роли (5 ролей)</a:t>
            </a:r>
          </a:p>
          <a:p>
            <a:pPr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 аренды (квартиры с характеристиками)</a:t>
            </a:r>
          </a:p>
          <a:p>
            <a:pPr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Бронирование и оплата</a:t>
            </a:r>
          </a:p>
          <a:p>
            <a:pPr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Отзывы и модерация</a:t>
            </a:r>
          </a:p>
          <a:p>
            <a:pPr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доступом и аудит</a:t>
            </a:r>
          </a:p>
          <a:p>
            <a:pPr algn="just"/>
            <a:endParaRPr lang="ru-RU" sz="2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Ключевая особенность:</a:t>
            </a:r>
          </a:p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Таблицы спроектированы так, чтобы поддержать динамическое расширение атрибутов для разных городов</a:t>
            </a:r>
          </a:p>
        </p:txBody>
      </p:sp>
    </p:spTree>
    <p:extLst>
      <p:ext uri="{BB962C8B-B14F-4D97-AF65-F5344CB8AC3E}">
        <p14:creationId xmlns:p14="http://schemas.microsoft.com/office/powerpoint/2010/main" val="24531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2CA26-C984-4F9C-882E-69897605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механизма доступа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8797C-0549-4851-9442-F80BB0069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2357"/>
            <a:ext cx="8596668" cy="409759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Access Layer (DAL) 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состоит из двух модулей: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DataDBeaver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низкоуровневый адаптер</a:t>
            </a:r>
          </a:p>
          <a:p>
            <a:pPr lvl="1"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соединениями через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Npgsql</a:t>
            </a:r>
            <a:endParaRPr lang="en-US" sz="2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Выполнение "сырых" 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SQL-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команд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DatabaseQueries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построитель запросов</a:t>
            </a:r>
          </a:p>
          <a:p>
            <a:pPr lvl="1"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Интроспекция схемы БД</a:t>
            </a:r>
          </a:p>
          <a:p>
            <a:pPr lvl="1"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Динамическое формирование запросов</a:t>
            </a:r>
          </a:p>
          <a:p>
            <a:pPr lvl="1" algn="just"/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Маппинг результатов в бизнес-объекты</a:t>
            </a:r>
          </a:p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Поток вызовов:</a:t>
            </a:r>
          </a:p>
          <a:p>
            <a:pPr marL="0" indent="0" algn="just">
              <a:buNone/>
            </a:pP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DatabaseQueries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DataDBeaver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PostgreSQL System Catalog</a:t>
            </a:r>
            <a:endParaRPr lang="ru-RU" sz="2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438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2CA26-C984-4F9C-882E-69897605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асинхронного доступа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8797C-0549-4851-9442-F80BB0069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376" y="1553202"/>
            <a:ext cx="4271461" cy="45968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Асинхронные методы работы с БД</a:t>
            </a:r>
          </a:p>
          <a:p>
            <a:pPr marL="0" indent="0" algn="just">
              <a:buNone/>
            </a:pP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FF6229-08D0-4AA7-B2CC-A8F04A4622EE}"/>
              </a:ext>
            </a:extLst>
          </p:cNvPr>
          <p:cNvSpPr txBox="1"/>
          <p:nvPr/>
        </p:nvSpPr>
        <p:spPr>
          <a:xfrm>
            <a:off x="677334" y="1980811"/>
            <a:ext cx="8763027" cy="3323987"/>
          </a:xfrm>
          <a:prstGeom prst="rect">
            <a:avLst/>
          </a:prstGeom>
          <a:noFill/>
          <a:ln>
            <a:solidFill>
              <a:srgbClr val="2282BE"/>
            </a:solidFill>
          </a:ln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async Task&lt;int&gt;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CreateUserAsync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(string login, string password, 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string email, string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telefon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string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firstName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string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using var conn = new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NpgsqlConnection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(_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connectionString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await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conn.OpenAsync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await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SyncSequenceAsync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polzovatel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"id");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using var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NpgsqlCommand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DatabaseQueries.CreateUser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conn);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параметров...</a:t>
            </a:r>
          </a:p>
          <a:p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(int)await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cmd.ExecuteScalarAsync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E98E9A-666B-4AAE-B032-1C39FBB255A3}"/>
              </a:ext>
            </a:extLst>
          </p:cNvPr>
          <p:cNvSpPr txBox="1"/>
          <p:nvPr/>
        </p:nvSpPr>
        <p:spPr>
          <a:xfrm>
            <a:off x="563153" y="5314350"/>
            <a:ext cx="7918117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момент:</a:t>
            </a:r>
          </a:p>
          <a:p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</a:t>
            </a:r>
            <a:r>
              <a:rPr lang="ru-RU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OpenAsync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и </a:t>
            </a:r>
            <a:r>
              <a:rPr lang="ru-RU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ExecuteScalarAsync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обеспечивает неблокирующее выполнение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9929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2CA26-C984-4F9C-882E-698976056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05595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Синхронизация последовательностей (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SyncSequenceAsync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8797C-0549-4851-9442-F80BB0069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5397"/>
            <a:ext cx="8596668" cy="38807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При миграции данных счетчики </a:t>
            </a:r>
            <a:r>
              <a:rPr lang="ru-RU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обновляются автоматически</a:t>
            </a:r>
          </a:p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– метод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SyncSequenceAsync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798161-2310-4D76-8FFD-4A270BDCCFA0}"/>
              </a:ext>
            </a:extLst>
          </p:cNvPr>
          <p:cNvSpPr txBox="1"/>
          <p:nvPr/>
        </p:nvSpPr>
        <p:spPr>
          <a:xfrm>
            <a:off x="677334" y="2830987"/>
            <a:ext cx="9423011" cy="3000821"/>
          </a:xfrm>
          <a:prstGeom prst="rect">
            <a:avLst/>
          </a:prstGeom>
          <a:noFill/>
          <a:ln>
            <a:solidFill>
              <a:srgbClr val="2282BE"/>
            </a:solidFill>
          </a:ln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async Task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SyncSequenceAsync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tableName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string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columnName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using var conn = new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NpgsqlConnection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(_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connectionString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await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conn.OpenAsync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var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NpgsqlCommand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$"SELECT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setval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pg_get_serial_sequence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('{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tableName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}', '{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columnName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}'), 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COALESCE(MAX({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columnName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}), 0) + 1, false) FROM {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tableName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}", conn);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await </a:t>
            </a:r>
            <a:r>
              <a:rPr lang="en-US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cmd.ExecuteNonQueryAsync</a:t>
            </a:r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CE328-3E88-4983-BEAE-0DF585B76C33}"/>
              </a:ext>
            </a:extLst>
          </p:cNvPr>
          <p:cNvSpPr txBox="1"/>
          <p:nvPr/>
        </p:nvSpPr>
        <p:spPr>
          <a:xfrm>
            <a:off x="593445" y="5774571"/>
            <a:ext cx="897839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 для интегратора:</a:t>
            </a:r>
          </a:p>
          <a:p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 не знает имя последовательности заранее – он запрашивает его у СУБД через </a:t>
            </a:r>
            <a:r>
              <a:rPr lang="ru-RU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pg_get_serial_sequence</a:t>
            </a:r>
            <a:endParaRPr lang="ru-RU" sz="2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403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2CA26-C984-4F9C-882E-69897605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Функциональное тестирование (ПМИ)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8797C-0549-4851-9442-F80BB0069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022" y="1502458"/>
            <a:ext cx="6183385" cy="4844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тестирования методом «черного ящика»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988DEAE9-FA7B-41BD-B737-FAB90AE67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795597"/>
              </p:ext>
            </p:extLst>
          </p:nvPr>
        </p:nvGraphicFramePr>
        <p:xfrm>
          <a:off x="785276" y="1906493"/>
          <a:ext cx="8127999" cy="359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793">
                  <a:extLst>
                    <a:ext uri="{9D8B030D-6E8A-4147-A177-3AD203B41FA5}">
                      <a16:colId xmlns:a16="http://schemas.microsoft.com/office/drawing/2014/main" val="714322672"/>
                    </a:ext>
                  </a:extLst>
                </a:gridCol>
                <a:gridCol w="4219873">
                  <a:extLst>
                    <a:ext uri="{9D8B030D-6E8A-4147-A177-3AD203B41FA5}">
                      <a16:colId xmlns:a16="http://schemas.microsoft.com/office/drawing/2014/main" val="145567217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647796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Тест-кейс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 marL="152400" marR="152400" marT="95250" marB="95250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Статус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6672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ТС-01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Проверка канала связи с сервером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Пройдено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701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ТС-02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Получение метаданных 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information_schema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Пройдено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346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ТС-03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Синхронизация счетчиков 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SyncSequenceAsync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Пройдено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270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ТС-04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Выполнение поиска по критериям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Пройдено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345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ТС-05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Защита от некорректных записей (FK)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Пройдено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911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ТС-06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Проверка прав доступа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Пройдено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23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ТС-07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Доступ к серверным процедурам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Пройдено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3053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49E55F8-6208-4F7B-85D4-93F14E8B652E}"/>
              </a:ext>
            </a:extLst>
          </p:cNvPr>
          <p:cNvSpPr txBox="1"/>
          <p:nvPr/>
        </p:nvSpPr>
        <p:spPr>
          <a:xfrm>
            <a:off x="1219949" y="5494210"/>
            <a:ext cx="725865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 Все 7 тестов пройдены, механизм работает корректно</a:t>
            </a:r>
          </a:p>
        </p:txBody>
      </p:sp>
    </p:spTree>
    <p:extLst>
      <p:ext uri="{BB962C8B-B14F-4D97-AF65-F5344CB8AC3E}">
        <p14:creationId xmlns:p14="http://schemas.microsoft.com/office/powerpoint/2010/main" val="3933527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2CA26-C984-4F9C-882E-69897605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8797C-0549-4851-9442-F80BB0069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197912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механизм программного доступа к метаинформации СУБД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 Data Access Layer (классы </a:t>
            </a:r>
            <a:r>
              <a:rPr lang="ru-RU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DataDBeaver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DatabaseQueries</a:t>
            </a: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Обеспечена автоматическая синхронизация последовательностей через системные функции </a:t>
            </a:r>
            <a:r>
              <a:rPr lang="ru-RU" sz="2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ru-RU" sz="2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Подтверждена работоспособность функциональным тестированием</a:t>
            </a:r>
          </a:p>
          <a:p>
            <a:pPr marL="0" indent="0" algn="just">
              <a:buNone/>
            </a:pPr>
            <a:endParaRPr lang="ru-RU" sz="2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значимость:</a:t>
            </a:r>
          </a:p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подключать новые города и регионы к платформе без переписывания SQL-запросов и перекомпиляции бэкенда</a:t>
            </a:r>
          </a:p>
          <a:p>
            <a:pPr marL="0" indent="0" algn="just">
              <a:buNone/>
            </a:pPr>
            <a:endParaRPr lang="ru-RU" sz="2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достигнута, задачи выполнены в полном объеме</a:t>
            </a:r>
          </a:p>
        </p:txBody>
      </p:sp>
    </p:spTree>
    <p:extLst>
      <p:ext uri="{BB962C8B-B14F-4D97-AF65-F5344CB8AC3E}">
        <p14:creationId xmlns:p14="http://schemas.microsoft.com/office/powerpoint/2010/main" val="97630663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Синий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256</TotalTime>
  <Words>681</Words>
  <Application>Microsoft Office PowerPoint</Application>
  <PresentationFormat>Широкоэкранный</PresentationFormat>
  <Paragraphs>126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Trebuchet MS</vt:lpstr>
      <vt:lpstr>Wingdings 3</vt:lpstr>
      <vt:lpstr>Аспект</vt:lpstr>
      <vt:lpstr>Разработка механизма программного доступа к метаинформации реляционной СУБД в коде комплекса для организации арендного бизнеса в условиях многогородней структуры.</vt:lpstr>
      <vt:lpstr>Проблема и актуальность</vt:lpstr>
      <vt:lpstr>Функциональные требования</vt:lpstr>
      <vt:lpstr>Выбор технологического стека</vt:lpstr>
      <vt:lpstr>Структура БД (словари данных)</vt:lpstr>
      <vt:lpstr>Архитектура механизма доступа</vt:lpstr>
      <vt:lpstr>Реализация асинхронного доступа</vt:lpstr>
      <vt:lpstr>Синхронизация последовательностей (SyncSequenceAsync)</vt:lpstr>
      <vt:lpstr>Функциональное тестирование (ПМИ)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механизма программного доступа к метаинформации реляционной СУБД в коде комплекса для организации арендного бизнеса в условиях многогородней структуры.</dc:title>
  <dc:creator>Пользователь</dc:creator>
  <cp:lastModifiedBy>Пользователь</cp:lastModifiedBy>
  <cp:revision>16</cp:revision>
  <dcterms:created xsi:type="dcterms:W3CDTF">2026-04-13T13:04:29Z</dcterms:created>
  <dcterms:modified xsi:type="dcterms:W3CDTF">2026-04-13T17:20:44Z</dcterms:modified>
</cp:coreProperties>
</file>